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0:00–0:30 · Powitanie</a:t>
            </a:r>
          </a:p>
          <a:p/>
          <a:p>
            <a:r>
              <a:t>POWIEDZ:</a:t>
            </a:r>
          </a:p>
          <a:p>
            <a:r>
              <a:t>„Dziś przyjrzymy się temu, jak to samo zadanie zmienia się, gdy znamy konkretną klasę. Wyjdziemy od podręcznika, przygotujemy własne polecenie, a potem sprawdzimy, co warto poprawić.”</a:t>
            </a:r>
          </a:p>
          <a:p/>
          <a:p>
            <a:r>
              <a:t>WSKAZÓWKI DLA PROWADZĄCEJ:</a:t>
            </a:r>
          </a:p>
          <a:p>
            <a:r>
              <a:t>Krótko przedstaw cel. Po powitaniu przejdź do rozmowy w parach.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0:30–5:00 · Rozmowa na początek; 2 minuty w parach</a:t>
            </a:r>
          </a:p>
          <a:p/>
          <a:p>
            <a:r>
              <a:t>POWIEDZ:</a:t>
            </a:r>
          </a:p>
          <a:p>
            <a:r>
              <a:t>„Przypomnijcie sobie zadanie, które wykonały dwie klasy. Co przebiegło inaczej? Porozmawiajcie przez dwie minuty z osobą obok. Potem poproszę o dwa krótkie przykłady.”</a:t>
            </a:r>
          </a:p>
          <a:p/>
          <a:p>
            <a:r>
              <a:t>WSKAZÓWKI DLA PROWADZĄCEJ:</a:t>
            </a:r>
          </a:p>
          <a:p>
            <a:r>
              <a:t>Daj 30 sekund na przypomnienie zadania, 2 minuty rozmowy, około 2 minut na dwie wypowiedzi i przejście. Zapytaj: Co wiedzieliście o tych uczniach, co mogło podpowiedzieć zmianę?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5:00–6:00 · Krótkie wprowadzenie</a:t>
            </a:r>
          </a:p>
          <a:p/>
          <a:p>
            <a:r>
              <a:t>POWIEDZ:</a:t>
            </a:r>
          </a:p>
          <a:p>
            <a:r>
              <a:t>„Gotowa metoda nie odpowiada na wszystkie pytania o konkretną klasę. Nauczyciel podejmuje decyzje na podstawie tego, co wie o uczniach, i sprawdza ich skutki. Tym będziemy się dziś zajmować.”</a:t>
            </a:r>
          </a:p>
          <a:p/>
          <a:p>
            <a:r>
              <a:t>WSKAZÓWKI DLA PROWADZĄCEJ:</a:t>
            </a:r>
          </a:p>
          <a:p>
            <a:r>
              <a:t>Nie rozwijaj historii teorii. Przykład: praca w parach ma sens wtedy, gdy wiemy, co robi mówiący i po co słucha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6:00–7:00 · Trzy punkty odniesienia</a:t>
            </a:r>
          </a:p>
          <a:p/>
          <a:p>
            <a:r>
              <a:t>POWIEDZ:</a:t>
            </a:r>
          </a:p>
          <a:p>
            <a:r>
              <a:t>„Znam swoją klasę. Korzystam z doświadczenia i obserwacji. Daję uczniom możliwość działania i wyboru. Te trzy pytania pomogą nam uzasadnić zmiany w zadaniu.”</a:t>
            </a:r>
          </a:p>
          <a:p/>
          <a:p>
            <a:r>
              <a:t>WSKAZÓWKI DLA PROWADZĄCEJ:</a:t>
            </a:r>
          </a:p>
          <a:p>
            <a:r>
              <a:t>Wyjaśnij terminy przez przykład, bez sprawdzania znajomości definicji.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7:00–8:00 · Wiedza nauczyciela</a:t>
            </a:r>
          </a:p>
          <a:p/>
          <a:p>
            <a:r>
              <a:t>POWIEDZ:</a:t>
            </a:r>
          </a:p>
          <a:p>
            <a:r>
              <a:t>„Łączymy znajomość języka, uczniów i sposobów uczenia. Zainteresowania, doświadczenia i warunki pracy mogą zmienić polecenie równie konkretnie jak trudność językowa.”</a:t>
            </a:r>
          </a:p>
          <a:p/>
          <a:p>
            <a:r>
              <a:t>WSKAZÓWKI DLA PROWADZĄCEJ:</a:t>
            </a:r>
          </a:p>
          <a:p>
            <a:r>
              <a:t>Zapowiedz: wybierzemy dwie informacje poza poziomem angielskiego i pokażemy, jak zmieniają pracę ucznia.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8:00–8:30 · Przebieg warsztatu</a:t>
            </a:r>
          </a:p>
          <a:p/>
          <a:p>
            <a:r>
              <a:t>POWIEDZ:</a:t>
            </a:r>
          </a:p>
          <a:p>
            <a:r>
              <a:t>„Najpierw przeczytacie zadanie i opis klasy, potem przygotujecie swoją wersję. Porównacie ją z drugą klasą. Po przeczytaniu przykładowej lekcji wprowadzicie jedną poprawkę.”</a:t>
            </a:r>
          </a:p>
          <a:p/>
          <a:p>
            <a:r>
              <a:t>WSKAZÓWKI DLA PROWADZĄCEJ:</a:t>
            </a:r>
          </a:p>
          <a:p>
            <a:r>
              <a:t>Nie czytaj wszystkich godzin. Zapowiedz krótkie hasła i wspólny zapis jednej osoby w zespole.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8:30–10:00 · QR i osiem zespołów</a:t>
            </a:r>
          </a:p>
          <a:p/>
          <a:p>
            <a:r>
              <a:t>POWIEDZ:</a:t>
            </a:r>
          </a:p>
          <a:p>
            <a:r>
              <a:t>„Zeskanujcie kod. Wybierzcie przydzielony zespół: A1, A2, B1, B2, C1, C2, D1 lub D2. Jedna osoba zapisuje odpowiedzi na swoim urządzeniu; pozostałe wspólnie je przygotowują. Możecie wpisywać tekst albo użyć przycisku Dyktuj i sprawdzić zapis.”</a:t>
            </a:r>
          </a:p>
          <a:p/>
          <a:p>
            <a:r>
              <a:t>WSKAZÓWKI DLA PROWADZĄCEJ:</a:t>
            </a:r>
          </a:p>
          <a:p>
            <a:r>
              <a:t>Przydziel osiem zespołów; zespoły jednego wariantu posadź blisko siebie. Otwórzcie etap 1. Zadanie i klasa. Nie otwierajcie jeszcze opisu lekcji. PRZED WARSZTATEM: udostępnij stronę uczestnikom i sprawdź QR na innym telefonie. Odpowiedzi zapisują się na używanym urządzeniu. Przy problemach użyj pobranego PDF i papieru.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10:00–20:00 · Analiza; 10 minut łącznie ze slajdem 9</a:t>
            </a:r>
          </a:p>
          <a:p/>
          <a:p>
            <a:r>
              <a:t>POWIEDZ:</a:t>
            </a:r>
          </a:p>
          <a:p>
            <a:r>
              <a:t>„W etapie 1 przeczytajcie zadanie z podręcznika i opis swojej klasy. Wybierzcie dwie informacje poza poziomem angielskiego: zainteresowanie lub doświadczenie oraz warunek pracy, czas, relacje albo prywatność. Co zostawicie? Co te informacje podpowiadają zmienić? Zapiszcie kilka haseł.”</a:t>
            </a:r>
          </a:p>
          <a:p/>
          <a:p>
            <a:r>
              <a:t>WSKAZÓWKI DLA PROWADZĄCEJ:</a:t>
            </a:r>
          </a:p>
          <a:p>
            <a:r>
              <a:t>Po około 5 minutach zapytaj: Który fragment polecenia zmienicie z powodu tej informacji? Po 8 minutach zapowiedz ostatnie 2 minuty. Nie wymagaj odpowiedzi na wszystkie pytania Mapy; to pomoc do rozmowy.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W ramach 10:00–20:00 · Przypomnienie celu; bez dodatkowego czasu</a:t>
            </a:r>
          </a:p>
          <a:p/>
          <a:p>
            <a:r>
              <a:t>POWIEDZ:</a:t>
            </a:r>
          </a:p>
          <a:p>
            <a:r>
              <a:t>„Przy zmianach zachowujemy ćwiczone formy językowe i mówienie lub pisanie. W wariancie C pozostaje historia o tym, jak YouTuber stał się popularny, z informacjami o pracy i życiu prywatnym; szczegóły mogą być wymyślone.”</a:t>
            </a:r>
          </a:p>
          <a:p/>
          <a:p>
            <a:r>
              <a:t>WSKAZÓWKI DLA PROWADZĄCEJ:</a:t>
            </a:r>
          </a:p>
          <a:p>
            <a:r>
              <a:t>Wyświetl tylko jeśli zespoły potrzebują przypomnienia. Nie przerywaj wszystkim pracy na długie omówienie.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20:00–22:00 · Instrukcja do projektowania</a:t>
            </a:r>
          </a:p>
          <a:p/>
          <a:p>
            <a:r>
              <a:t>POWIEDZ:</a:t>
            </a:r>
          </a:p>
          <a:p>
            <a:r>
              <a:t>„Kliknijcie 2. Przygotujcie zadanie. Oryginał jest ponownie widoczny przy poleceniu. Porównujcie go ze swoją wersją. Zmieniajcie to, co wynika z opisu klasy: temat, polecenie, pomoc, wybór lub sposób pracy w parach.”</a:t>
            </a:r>
          </a:p>
          <a:p/>
          <a:p>
            <a:r>
              <a:t>WSKAZÓWKI DLA PROWADZĄCEJ:</a:t>
            </a:r>
          </a:p>
          <a:p>
            <a:r>
              <a:t>Dwie minuty na wyjaśnienie i pytania; następnie 14 minut pracy. Doprecyzuj: nie musicie wykorzystać wszystkich informacji ani przygotować całej lekcji.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22:00–36:00 · Pierwsza wersja; 14 minut pracy</a:t>
            </a:r>
          </a:p>
          <a:p/>
          <a:p>
            <a:r>
              <a:t>POWIEDZ:</a:t>
            </a:r>
          </a:p>
          <a:p>
            <a:r>
              <a:t>„Napiszcie polecenie dla uczniów po angielsku. Pozostałe odpowiedzi mogą być krótkimi hasłami po polsku. Pokażcie dwie informacje o klasie i dwie decyzje, które z nich wynikają. Ustalcie pomoc, czas oraz zadanie słuchacza lub czytelnika.”</a:t>
            </a:r>
          </a:p>
          <a:p/>
          <a:p>
            <a:r>
              <a:t>WSKAZÓWKI DLA PROWADZĄCEJ:</a:t>
            </a:r>
          </a:p>
          <a:p>
            <a:r>
              <a:t>Zostaw ten slajd na ekranie. Około 29. minuty odwiedź zespoły: Co uczeń zrobi inaczej dzięki tej zmianie? Jak partner pokaże, że rozumie? O 34. minucie: Zostały 2 minuty, dokończcie polecenie. Nie poprawiaj każdego błędu językowego. Kryterium to jasność i uzasadnienie decyzji.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36:00–42:00 · Porównanie; 6 minut</a:t>
            </a:r>
          </a:p>
          <a:p/>
          <a:p>
            <a:r>
              <a:t>POWIEDZ:</a:t>
            </a:r>
          </a:p>
          <a:p>
            <a:r>
              <a:t>„Połączcie się z drugim zespołem w swoim wariancie: A1 z A2 i tak dalej. Pierwszy zespół ma 2 minuty, drugi 2 minuty. Przez ostatnie 2 minuty ustalcie, co wspólne, a co różne i z jakiego powodu. Zapiszcie w etapie 2 krótkie porównanie.”</a:t>
            </a:r>
          </a:p>
          <a:p/>
          <a:p>
            <a:r>
              <a:t>WSKAZÓWKI DLA PROWADZĄCEJ:</a:t>
            </a:r>
          </a:p>
          <a:p>
            <a:r>
              <a:t>Mierz tury i sygnalizuj zmianę po 2 minutach. Pytaj o powód różnicy, nie o to, która wersja jest lepsza.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42:00–45:00 · Czytanie opisu lekcji; 3 minuty</a:t>
            </a:r>
          </a:p>
          <a:p/>
          <a:p>
            <a:r>
              <a:t>POWIEDZ:</a:t>
            </a:r>
          </a:p>
          <a:p>
            <a:r>
              <a:t>„Kliknijcie 3. Co wydarzyło się na lekcji?, a następnie Otwórz opis lekcji dla swojej klasy lub grupy. To wymyślona lekcja, nie wynik Waszego projektu. Przeczytajcie opis i zauważone trudności.”</a:t>
            </a:r>
          </a:p>
          <a:p/>
          <a:p>
            <a:r>
              <a:t>WSKAZÓWKI DLA PROWADZĄCEJ:</a:t>
            </a:r>
          </a:p>
          <a:p>
            <a:r>
              <a:t>Daj 3 minuty na spokojne przeczytanie. Uprzedź: jeśli Wasze zadanie już zapobiega trudności, możecie zachować tę decyzję i wskazać, jak ją sprawdzicie.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45:00–53:00 · Rozmowa i zapis; 8 minut łącznie ze slajdem 15</a:t>
            </a:r>
          </a:p>
          <a:p/>
          <a:p>
            <a:r>
              <a:t>POWIEDZ:</a:t>
            </a:r>
          </a:p>
          <a:p>
            <a:r>
              <a:t>„Wskażcie jedną liczbę lub przykład z opisu. Podajcie dwa możliwe powody. Co trzeba sprawdzić albo o co zapytać uczniów? Zapiszcie odpowiedzi w etapie 3.”</a:t>
            </a:r>
          </a:p>
          <a:p/>
          <a:p>
            <a:r>
              <a:t>WSKAZÓWKI DLA PROWADZĄCEJ:</a:t>
            </a:r>
          </a:p>
          <a:p>
            <a:r>
              <a:t>Po 6 minutach przypomnij o końcu. Pomagaj oddzielić obserwację od interpretacji: Co rzeczywiście zapisano, a co dopiero przypuszczacie? Nie traktuj braku wypowiedzi automatycznie jako braku wiedzy lub chęci.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W ramach 45:00–53:00 · Pomoc w analizie; bez dodatkowego zadania</a:t>
            </a:r>
          </a:p>
          <a:p/>
          <a:p>
            <a:r>
              <a:t>POWIEDZ:</a:t>
            </a:r>
          </a:p>
          <a:p>
            <a:r>
              <a:t>„Sprawdzamy nie tylko formy czasownika. Chcemy wiedzieć, czy każdy miał okazję mówić lub pisać i czy odbiorca zrozumiał historię. Jak można to zauważyć na lekcji?”</a:t>
            </a:r>
          </a:p>
          <a:p/>
          <a:p>
            <a:r>
              <a:t>WSKAZÓWKI DLA PROWADZĄCEJ:</a:t>
            </a:r>
          </a:p>
          <a:p>
            <a:r>
              <a:t>Wyświetl w razie potrzeby. Wystarczy jeden prosty sposób sprawdzenia, np. partner odtwarza kolejność zdarzeń. Nie dodawaj kolejnego pola ani osobnej rundy wypowiedzi.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53:00–63:00 · Poprawka; 10 minut</a:t>
            </a:r>
          </a:p>
          <a:p/>
          <a:p>
            <a:r>
              <a:t>POWIEDZ:</a:t>
            </a:r>
          </a:p>
          <a:p>
            <a:r>
              <a:t>„Kliknijcie 4. Poprawcie zadanie. Oryginał nadal jest pod ręką. Zostawcie to, co pomaga uczniom. Wybierzcie jedną rzecz do poprawy, napiszcie nowy fragment po angielsku lub przygotujcie pomoc i wyjaśnijcie wybór. Co sprawdzicie przy następnej próbie?”</a:t>
            </a:r>
          </a:p>
          <a:p/>
          <a:p>
            <a:r>
              <a:t>WSKAZÓWKI DLA PROWADZĄCEJ:</a:t>
            </a:r>
          </a:p>
          <a:p>
            <a:r>
              <a:t>Po 7 minutach zapowiedz ostatnie 3 minuty. Nie wymagaj przepisania całego projektu. Przygotujcie też wspólną wypowiedź dwóch zespołów w swoim wariancie na 90 sekund.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63:00–70:00 · Omówienie; 4 warianty po 90 sekund + 1 minuta syntezy</a:t>
            </a:r>
          </a:p>
          <a:p/>
          <a:p>
            <a:r>
              <a:t>POWIEDZ:</a:t>
            </a:r>
          </a:p>
          <a:p>
            <a:r>
              <a:t>„Każdy wariant ma 90 sekund wspólnie dla dwóch zespołów. Powiedzcie, co zachowaliście, co zmieniło się ze względu na klasy i jak sprawdzicie wybraną poprawkę. Nie czytajcie całych odpowiedzi.”</a:t>
            </a:r>
          </a:p>
          <a:p/>
          <a:p>
            <a:r>
              <a:t>WSKAZÓWKI DLA PROWADZĄCEJ:</a:t>
            </a:r>
          </a:p>
          <a:p>
            <a:r>
              <a:t>Zapraszaj A, B, C, D. Pilnuj 90 sekund na parę zespołów, nie na każdy z ośmiu zespołów. Na koniec: To samo zadanie prowadzi do różnych decyzji, bo znamy różne klasy. Poproś o konkret, jeśli wyjaśnienie ogranicza się do poziomu angielskiego.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Pomoc do omówienia · W ramach 63:00–70:00 lub do pominięcia</a:t>
            </a:r>
          </a:p>
          <a:p/>
          <a:p>
            <a:r>
              <a:t>POWIEDZ:</a:t>
            </a:r>
          </a:p>
          <a:p>
            <a:r>
              <a:t>„Mapa przypomina, od jakich pytań zaczynamy: co uczeń ma powiedzieć, co wiemy o klasie i co może wybrać. Nie trzeba jej osobno wypełniać.”</a:t>
            </a:r>
          </a:p>
          <a:p/>
          <a:p>
            <a:r>
              <a:t>WSKAZÓWKI DLA PROWADZĄCEJ:</a:t>
            </a:r>
          </a:p>
          <a:p>
            <a:r>
              <a:t>Nie uruchamiaj nowego zadania. Użyj zamiast części podsumowania, jeśli potrzebne. Pełna Mapa jest dostępna online i w materiałach.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Pomoc do omówienia · W ramach 63:00–70:00 lub do pominięcia</a:t>
            </a:r>
          </a:p>
          <a:p/>
          <a:p>
            <a:r>
              <a:t>POWIEDZ:</a:t>
            </a:r>
          </a:p>
          <a:p>
            <a:r>
              <a:t>„Potem planujemy pomoc i pracę uczniów, sprawdzamy rozumienie i wracamy do zadania z poprawką. Mapę możecie wykorzystać przy własnych lekcjach.”</a:t>
            </a:r>
          </a:p>
          <a:p/>
          <a:p>
            <a:r>
              <a:t>WSKAZÓWKI DLA PROWADZĄCEJ:</a:t>
            </a:r>
          </a:p>
          <a:p>
            <a:r>
              <a:t>Nie przeznaczaj osobnego czasu. W razie opóźnienia przejdź bezpośrednio do slajdu 20.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CZAS: 70:00–75:00 · Własna klasa i zakończenie</a:t>
            </a:r>
          </a:p>
          <a:p/>
          <a:p>
            <a:r>
              <a:t>POWIEDZ:</a:t>
            </a:r>
          </a:p>
          <a:p>
            <a:r>
              <a:t>„Na dole etapu 4 znajdziecie Zaplanujcie zadanie do własnej klasy. Przez 2 minuty zapiszcie jedną zmianę do własnego zadania i jej powód. Przez minutę opowiedzcie o niej osobie obok. Na koniec skopiujcie odpowiedzi lub pobierzcie plik TXT.”</a:t>
            </a:r>
          </a:p>
          <a:p/>
          <a:p>
            <a:r>
              <a:t>WSKAZÓWKI DLA PROWADZĄCEJ:</a:t>
            </a:r>
          </a:p>
          <a:p>
            <a:r>
              <a:t>70:00–71:00 wyjaśnienie; 71:00–73:00 zapis; 73:00–74:00 rozmowa; 74:00–75:00 pobranie i podziękowanie. Podkreśl: zapis jest na urządzeniu osoby piszącej; podzielcie się plikiem w zespole. Zakończ: Wiedza o konkretnej klasie jest podstawą decyzji, które można uzasadnić i sprawdzić.</a:t>
            </a:r>
          </a:p>
          <a:p/>
          <a:p>
            <a:r>
              <a:t>PODGLĄD NA SLAJDZIE: czerwona ramka pokazuje aktualne pytanie lub fragment. To przykład A1; inne zespoły pozostają w swoim wariancie. Nie przepisujcie przykładu, odpowiadajcie dla przydzielonej klasy.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Materiał rezerwowy. Pokaż wycinek tylko gdy potrzebny do wyjaśnienia oryginału. Zadanie jest też online w etapach 1, 2 i 4. Nie przydzielaj dodatkowego czasu; czytanie odbywa się w 10–20 minucie, projektowanie w 20–36 minucie.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Materiał rezerwowy. Pokaż wycinek tylko gdy potrzebny do wyjaśnienia oryginału. Zadanie jest też online w etapach 1, 2 i 4. Nie przydzielaj dodatkowego czasu; czytanie odbywa się w 10–20 minucie, projektowanie w 20–36 minucie.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Materiał rezerwowy. Pokaż wycinek tylko gdy potrzebny do wyjaśnienia oryginału. Zadanie jest też online w etapach 1, 2 i 4. Nie przydzielaj dodatkowego czasu; czytanie odbywa się w 10–20 minucie, projektowanie w 20–36 minucie.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Materiał rezerwowy. Pokaż wycinek tylko gdy potrzebny do wyjaśnienia oryginału. Zadanie jest też online w etapach 1, 2 i 4. Nie przydzielaj dodatkowego czasu; czytanie odbywa się w 10–20 minucie, projektowanie w 20–36 minucie.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Materiał rezerwowy. Pokaż wycinek tylko gdy potrzebny do wyjaśnienia oryginału. Zadanie jest też online w etapach 1, 2 i 4. Nie przydzielaj dodatkowego czasu; czytanie odbywa się w 10–20 minucie, projektowanie w 20–36 minucie.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Pełna Mapa do pokazania na życzenie lub jako pomoc w omówieniu. Powiedz: Możecie wracać do tych pytań przy własnym zadaniu. To pomoc, nie dodatkowa karta do wypełnienia. Bez osobnego czasu.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Źródła do samodzielnego wykorzystania po warsztacie. Nie czytaj bibliografii na głos i nie dodawaj osobnego zadania.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klasy lub grupy. Pokaż tylko właściwym zespołom, jeśli nie mogą otworzyć materiałów online. Analiza: 10–20 minuta (10 minut). Powiedz: Wybierzcie zainteresowanie lub doświadczenie i jeden warunek pracy. Jak każda informacja zmieni Wasze polecenie, pomoc albo działanie ucznia? Dwa zespoły w wariancie pracują z tym samym zadaniem.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ZAŁĄCZNIK — poza podstawową sekwencją prowadzenia.</a:t>
            </a:r>
          </a:p>
          <a:p/>
          <a:p>
            <a:r>
              <a:t>Rezerwowy opis przykładowej lekcji. Pokaż właściwym zespołom przy problemach z dostępem online. Czytanie: 42–45 minuta (3 minuty). Analiza: 45–53 minuta (8 minut). Powiedz: To przykładowa lekcja, nie rezultat Waszego projektu. Wskażcie obserwację i dwa możliwe powody; nie musicie odrzucać dobrej decyzji ze swojej wersji.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